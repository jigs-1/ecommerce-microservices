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6016adc5594c8d" /><Relationship Type="http://schemas.openxmlformats.org/officeDocument/2006/relationships/extended-properties" Target="/docProps/app.xml" Id="Rfc58f6f06b344d1a" /><Relationship Type="http://schemas.openxmlformats.org/officeDocument/2006/relationships/officeDocument" Target="/ppt/presentation.xml" Id="R9b8147bc258f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8f968791f4f74"/>
  </p:sldMasterIdLst>
  <p:notesMasterIdLst>
    <p:notesMasterId xmlns:r="http://schemas.openxmlformats.org/officeDocument/2006/relationships" r:id="R2d6f1032aa4644cd"/>
  </p:notesMasterIdLst>
  <p:sldIdLst>
    <p:sldId xmlns:r="http://schemas.openxmlformats.org/officeDocument/2006/relationships" id="256" r:id="R97eaf558b6b84ade"/>
    <p:sldId xmlns:r="http://schemas.openxmlformats.org/officeDocument/2006/relationships" id="257" r:id="R87a33a7b0e914d4b"/>
    <p:sldId xmlns:r="http://schemas.openxmlformats.org/officeDocument/2006/relationships" id="258" r:id="R651f29851ee149e8"/>
    <p:sldId xmlns:r="http://schemas.openxmlformats.org/officeDocument/2006/relationships" id="259" r:id="R9acfe35b4b634971"/>
    <p:sldId xmlns:r="http://schemas.openxmlformats.org/officeDocument/2006/relationships" id="260" r:id="R6937cc6982894ea1"/>
    <p:sldId xmlns:r="http://schemas.openxmlformats.org/officeDocument/2006/relationships" id="261" r:id="R3a1a53d2e3254163"/>
    <p:sldId xmlns:r="http://schemas.openxmlformats.org/officeDocument/2006/relationships" id="262" r:id="Ra65ad85434464c41"/>
    <p:sldId xmlns:r="http://schemas.openxmlformats.org/officeDocument/2006/relationships" id="263" r:id="R978202f8444c4ac0"/>
    <p:sldId xmlns:r="http://schemas.openxmlformats.org/officeDocument/2006/relationships" id="264" r:id="Rf83b5653749b4e9b"/>
    <p:sldId xmlns:r="http://schemas.openxmlformats.org/officeDocument/2006/relationships" id="265" r:id="Rd849ee0b13cd4d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8f968791f4f74" /><Relationship Type="http://schemas.openxmlformats.org/officeDocument/2006/relationships/theme" Target="/ppt/theme/theme1.xml" Id="Re50493b59d1c4f70" /><Relationship Type="http://schemas.openxmlformats.org/officeDocument/2006/relationships/notesMaster" Target="/ppt/notesMasters/notesMaster1.xml" Id="R2d6f1032aa4644cd" /><Relationship Type="http://schemas.openxmlformats.org/officeDocument/2006/relationships/presProps" Target="/ppt/presProps.xml" Id="Rd8b83e39bfe14119" /><Relationship Type="http://schemas.openxmlformats.org/officeDocument/2006/relationships/viewProps" Target="/ppt/viewProps.xml" Id="R05ded67a61884e78" /><Relationship Type="http://schemas.openxmlformats.org/officeDocument/2006/relationships/tableStyles" Target="/ppt/tableStyles.xml" Id="R0169ddf80aca4caa" /><Relationship Type="http://schemas.openxmlformats.org/officeDocument/2006/relationships/slide" Target="/ppt/slides/slide1.xml" Id="R97eaf558b6b84ade" /><Relationship Type="http://schemas.openxmlformats.org/officeDocument/2006/relationships/slide" Target="/ppt/slides/slide2.xml" Id="R87a33a7b0e914d4b" /><Relationship Type="http://schemas.openxmlformats.org/officeDocument/2006/relationships/slide" Target="/ppt/slides/slide3.xml" Id="R651f29851ee149e8" /><Relationship Type="http://schemas.openxmlformats.org/officeDocument/2006/relationships/slide" Target="/ppt/slides/slide4.xml" Id="R9acfe35b4b634971" /><Relationship Type="http://schemas.openxmlformats.org/officeDocument/2006/relationships/slide" Target="/ppt/slides/slide5.xml" Id="R6937cc6982894ea1" /><Relationship Type="http://schemas.openxmlformats.org/officeDocument/2006/relationships/slide" Target="/ppt/slides/slide6.xml" Id="R3a1a53d2e3254163" /><Relationship Type="http://schemas.openxmlformats.org/officeDocument/2006/relationships/slide" Target="/ppt/slides/slide7.xml" Id="Ra65ad85434464c41" /><Relationship Type="http://schemas.openxmlformats.org/officeDocument/2006/relationships/slide" Target="/ppt/slides/slide8.xml" Id="R978202f8444c4ac0" /><Relationship Type="http://schemas.openxmlformats.org/officeDocument/2006/relationships/slide" Target="/ppt/slides/slide9.xml" Id="Rf83b5653749b4e9b" /><Relationship Type="http://schemas.openxmlformats.org/officeDocument/2006/relationships/slide" Target="/ppt/slides/slide10.xml" Id="Rd849ee0b13cd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195378a87644c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ameoTheme">
  <a:themeElements>
    <a:clrScheme name="CameoTheme">
      <a:accent1>
        <a:srgbClr val="0D8F83"/>
      </a:accent1>
      <a:accent2>
        <a:srgbClr val="E38743"/>
      </a:accent2>
      <a:accent3>
        <a:srgbClr val="7AA7D8"/>
      </a:accent3>
      <a:accent4>
        <a:srgbClr val="D9B44A"/>
      </a:accent4>
      <a:accent5>
        <a:srgbClr val="DB6554"/>
      </a:accent5>
      <a:accent6>
        <a:srgbClr val="B39AD9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meo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a646562e8e491e" /><Relationship Type="http://schemas.openxmlformats.org/officeDocument/2006/relationships/notesMaster" Target="/ppt/notesMasters/notesMaster1.xml" Id="R7389eb89282e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45f80279434388" /><Relationship Type="http://schemas.openxmlformats.org/officeDocument/2006/relationships/notesMaster" Target="/ppt/notesMasters/notesMaster1.xml" Id="Rdf8010fbe6e244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e4798bada4423c" /><Relationship Type="http://schemas.openxmlformats.org/officeDocument/2006/relationships/notesMaster" Target="/ppt/notesMasters/notesMaster1.xml" Id="R6ced901ac4db41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2fbe0ca74f4275" /><Relationship Type="http://schemas.openxmlformats.org/officeDocument/2006/relationships/notesMaster" Target="/ppt/notesMasters/notesMaster1.xml" Id="Rdfd7596e89894a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beb09b80c7431e" /><Relationship Type="http://schemas.openxmlformats.org/officeDocument/2006/relationships/notesMaster" Target="/ppt/notesMasters/notesMaster1.xml" Id="R13ebea702bda4d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abb2df52a444d3" /><Relationship Type="http://schemas.openxmlformats.org/officeDocument/2006/relationships/notesMaster" Target="/ppt/notesMasters/notesMaster1.xml" Id="Ree5fbdfea63e4d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99194be4c46be" /><Relationship Type="http://schemas.openxmlformats.org/officeDocument/2006/relationships/notesMaster" Target="/ppt/notesMasters/notesMaster1.xml" Id="Rf36911c2a80444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655dac7f874551" /><Relationship Type="http://schemas.openxmlformats.org/officeDocument/2006/relationships/notesMaster" Target="/ppt/notesMasters/notesMaster1.xml" Id="R527721b7ca5d42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d7fe4d73a74fe0" /><Relationship Type="http://schemas.openxmlformats.org/officeDocument/2006/relationships/notesMaster" Target="/ppt/notesMasters/notesMaster1.xml" Id="R3947c97cd26e44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bae565621b4d60" /><Relationship Type="http://schemas.openxmlformats.org/officeDocument/2006/relationships/notesMaster" Target="/ppt/notesMasters/notesMaster1.xml" Id="R1e4dea937077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slide. Emphasize that CAMEO is a multimodal system and not only a classifier. Mention the full user-facing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full system flow. This slide sets up the rest of the technical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slide begins where Member 3 ownership becomes strongest: projection, fusion, heads, and response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be explained carefully. Attention = relative importance. Gating = information flow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multi-head structure, the confidence formula, and the hybrid safety-aware response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honest here: the dataset is synthetic, balanced, and presentation-oriented. Explain why that was useful and also its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training logic. Mention cross-entropy for classification, MSE for intensity, and why frozen encoders were a practical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emotion and intent use classification accuracy, intensity uses MAE, and macro-F1 is also reported to respect class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project has both technical validation and usable product-layer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slide. End with strengths plus honest limitations, then your role as Member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20bf738534c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DBDF7A7-0C14-4C07-BF5C-C0F565C2544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4FD3DDC-7E60-4544-9C85-EF5438A2FEE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FF6B0C-8FEA-44CD-89CE-848E214FEB7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384CA4-97E8-43D4-BDB7-AE1A69BB15E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e10013da4ce4cb0" /><Relationship Type="http://schemas.openxmlformats.org/officeDocument/2006/relationships/slideLayout" Target="/ppt/slideLayouts/slideLayout2.xml" Id="R4d0afee2e0b84b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A64BA7-FD2B-419C-B396-6A3D00001BB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afee2e0b84b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3671b21a1a427f" /><Relationship Type="http://schemas.openxmlformats.org/officeDocument/2006/relationships/notesSlide" Target="/ppt/notesSlides/notesSlide1.xml" Id="Re3c807c13dc94f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0d526d7a24384" /><Relationship Type="http://schemas.openxmlformats.org/officeDocument/2006/relationships/notesSlide" Target="/ppt/notesSlides/notesSlide2.xml" Id="R903d0c0faa8444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20e3c52c0445f" /><Relationship Type="http://schemas.openxmlformats.org/officeDocument/2006/relationships/notesSlide" Target="/ppt/notesSlides/notesSlide3.xml" Id="R340080ecdcc940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72c7579664d58" /><Relationship Type="http://schemas.openxmlformats.org/officeDocument/2006/relationships/notesSlide" Target="/ppt/notesSlides/notesSlide4.xml" Id="R0fae98bd92f14e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77018125b54a8f" /><Relationship Type="http://schemas.openxmlformats.org/officeDocument/2006/relationships/notesSlide" Target="/ppt/notesSlides/notesSlide5.xml" Id="Reedb2742b5ba4f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e90af64ef4063" /><Relationship Type="http://schemas.openxmlformats.org/officeDocument/2006/relationships/notesSlide" Target="/ppt/notesSlides/notesSlide6.xml" Id="R1dde2cd1f1674e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7aa1e52c2f4e96" /><Relationship Type="http://schemas.openxmlformats.org/officeDocument/2006/relationships/notesSlide" Target="/ppt/notesSlides/notesSlide7.xml" Id="Ra6c3b28d29ff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222a0bfbb44410" /><Relationship Type="http://schemas.openxmlformats.org/officeDocument/2006/relationships/chart" Target="/ppt/slides/charts/chart1.xml" Id="R008427b157d94a4f" /><Relationship Type="http://schemas.openxmlformats.org/officeDocument/2006/relationships/notesSlide" Target="/ppt/notesSlides/notesSlide8.xml" Id="R22ce32e534604e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004ea1be1474d" /><Relationship Type="http://schemas.openxmlformats.org/officeDocument/2006/relationships/notesSlide" Target="/ppt/notesSlides/notesSlide9.xml" Id="R77a926e30bc84f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1a1b2f8c2a40ae" /><Relationship Type="http://schemas.openxmlformats.org/officeDocument/2006/relationships/notesSlide" Target="/ppt/notesSlides/notesSlide10.xml" Id="R6b167dd9539e4222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0E1726"/>
                </a:solidFill>
                <a:latin typeface="Poppins"/>
                <a:ea typeface="Poppins"/>
                <a:cs typeface="Poppins"/>
              </a:rPr>
              <a:t>Holdout Evaluation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0E1726"/>
              </a:solidFill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Emotion Acc</c:v>
          </c:tx>
          <c:spPr>
            <a:solidFill xmlns:a="http://schemas.openxmlformats.org/drawingml/2006/main">
              <a:srgbClr val="7AA7D8"/>
            </a:solidFill>
          </c:spPr>
          <c:cat>
            <c:strLit>
              <c:ptCount val="3"/>
              <c:pt idx="0">
                <c:v>Majority</c:v>
              </c:pt>
              <c:pt idx="1">
                <c:v>Heuristic</c:v>
              </c:pt>
              <c:pt idx="2">
                <c:v>CAMEO</c:v>
              </c:pt>
            </c:strLit>
          </c:cat>
          <c:val>
            <c:numLit>
              <c:formatCode/>
              <c:ptCount val="3"/>
              <c:pt idx="0">
                <c:v>0.1667</c:v>
              </c:pt>
              <c:pt idx="1">
                <c:v>0.8</c:v>
              </c:pt>
              <c:pt idx="2">
                <c:v>0.85</c:v>
              </c:pt>
            </c:numLit>
          </c:val>
        </c:ser>
        <c:ser>
          <c:idx val="1"/>
          <c:order val="1"/>
          <c:tx>
            <c:v>Intent Acc</c:v>
          </c:tx>
          <c:spPr>
            <a:solidFill xmlns:a="http://schemas.openxmlformats.org/drawingml/2006/main">
              <a:srgbClr val="0D8F83"/>
            </a:solidFill>
          </c:spPr>
          <c:cat>
            <c:strLit>
              <c:ptCount val="3"/>
              <c:pt idx="0">
                <c:v>Majority</c:v>
              </c:pt>
              <c:pt idx="1">
                <c:v>Heuristic</c:v>
              </c:pt>
              <c:pt idx="2">
                <c:v>CAMEO</c:v>
              </c:pt>
            </c:strLit>
          </c:cat>
          <c:val>
            <c:numLit>
              <c:formatCode/>
              <c:ptCount val="3"/>
              <c:pt idx="0">
                <c:v>0.1667</c:v>
              </c:pt>
              <c:pt idx="1">
                <c:v>0.8</c:v>
              </c:pt>
              <c:pt idx="2">
                <c:v>0.85</c:v>
              </c:pt>
            </c:numLit>
          </c:val>
        </c:ser>
        <c:ser>
          <c:idx val="2"/>
          <c:order val="2"/>
          <c:tx>
            <c:v>1 - Intensity MAE</c:v>
          </c:tx>
          <c:spPr>
            <a:solidFill xmlns:a="http://schemas.openxmlformats.org/drawingml/2006/main">
              <a:srgbClr val="E38743"/>
            </a:solidFill>
          </c:spPr>
          <c:cat>
            <c:strLit>
              <c:ptCount val="3"/>
              <c:pt idx="0">
                <c:v>Majority</c:v>
              </c:pt>
              <c:pt idx="1">
                <c:v>Heuristic</c:v>
              </c:pt>
              <c:pt idx="2">
                <c:v>CAMEO</c:v>
              </c:pt>
            </c:strLit>
          </c:cat>
          <c:val>
            <c:numLit>
              <c:formatCode/>
              <c:ptCount val="3"/>
              <c:pt idx="0">
                <c:v>0.8025</c:v>
              </c:pt>
              <c:pt idx="1">
                <c:v>0.8377</c:v>
              </c:pt>
              <c:pt idx="2">
                <c:v>0.845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D82D8-BEB5-4EF3-BC9B-CBF8772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6750"/>
            <a:ext cx="4095750" cy="55245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DF8F0">
              <a:alpha val="80000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22D29-6743-4AB3-98C8-614795C0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049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0E08D-667E-4ED9-A15C-1EDDC8CE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049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9940D-BF62-4DD8-93B8-939C407E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049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2620B-8CB4-4AE5-8790-E21E4172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514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675F"/>
                </a:solidFill>
              </a:defRPr>
            </a:pPr>
            <a:r>
              <a:rPr sz="1350" b="1">
                <a:solidFill>
                  <a:srgbClr val="0A675F"/>
                </a:solidFill>
              </a:rPr>
              <a:t>CAMEO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31318-A6B6-410B-8DB4-621E65D6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726"/>
                </a:solidFill>
              </a:defRPr>
            </a:pPr>
            <a:r>
              <a:rPr sz="2550" b="1">
                <a:solidFill>
                  <a:srgbClr val="0E1726"/>
                </a:solidFill>
              </a:rPr>
              <a:t>Context-Aware Multimodal Emotion &amp; Intent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1B776-E090-4446-A3A1-671201D9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A compact, explainable multimodal system that takes caption + image, predicts emotion, intent, intensity, computes confidence, and generates a safe supportive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29A80-A950-4822-B3EE-7DCC41D8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6A630-6477-43E6-AE54-36A01D83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F5C48-8E9B-4373-8813-C9EC02C2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FE539-F3C0-4E70-BEC5-2D862CE5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Caption text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Image upload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Optional authenticated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F9557-5317-467C-9D41-4ED0F7D9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59392-975C-4B6F-A6F1-BB18B1F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3CE17-24E2-42FA-835E-5A9B6861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8145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81340-3C9C-4699-9224-742F2BE4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0530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Emotion class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Intent class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Intensity score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Confidence +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13F0E-3DF9-4B73-81CF-576FE182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3429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64559-6D63-469B-BBF2-93D4B40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4A"/>
          </a:solidFill>
          <a:ln xmlns:a="http://schemas.openxmlformats.org/drawingml/2006/main" w="0">
            <a:solidFill>
              <a:srgbClr val="D9B4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A4A31-579B-40F7-B9F3-9EE0DF20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28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Project Promise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4E2AD-A020-4820-AA4F-E18E1B8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3105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Not just a classifier: CAMEO is a full pipeline with fusion, safety-aware response generation, persistence, and trend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4078E-532E-4885-AE3C-BE7E2223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3429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ECC77-DF2D-45EC-AD9F-FE7E6CA0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9AFEE-52A1-4376-9D6C-F2BD3CA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Main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A5E1D-894C-45B9-AD27-8EA2B3B7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10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Text and image together preserve more emotional context than either modality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Core architecture: projection -&gt; attention + gating fusion -&gt; multi-head prediction -&gt; confidence -&gt; calibration -&gt; response.</a:t>
            </a:r>
          </a:p>
        </p:txBody>
      </p:sp>
    </p:spTree>
    <p:extLst>
      <p:ext uri="{BB962C8B-B14F-4D97-AF65-F5344CB8AC3E}">
        <p14:creationId xmlns:p14="http://schemas.microsoft.com/office/powerpoint/2010/main" val="438315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81E55-9BBC-43C0-B9D9-850E8A7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5EF84-AB1A-4BD7-AB1A-67C049E3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F065E-428D-44E5-B270-18AAA2FF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Problem Statement, Objective, and End-to-End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3F838-3F4E-4558-8DEF-C2A29B50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Why the project exists and what exactly happens from input to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CE9F8-080B-4E6D-9D43-D34DC76F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CBE89-13AD-41E7-B245-67CF2BA6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7D2FA-0AE7-4457-9A33-337A5AE2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A8C49-73B8-404E-83A5-95340DB9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3009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Human emotional expression is often split across modalities. Text may explicitly say 'I need help' while the image carries facial or scene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1BA43-2131-496C-9608-DD9C8E86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333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7A96A-FA87-47EF-898A-60CDD33E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44C57-9821-47DF-A90F-0A9998C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6E06D-9CF2-488A-984F-6C6E023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3009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Build a multimodal system that combines NLP and computer vision to predict emotion, intent, and intensity more reliably than weaker baselines.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71F70-E3B7-46AA-AB36-8F8CC91E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695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D8630-3C2B-4451-84F9-64EA9454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2909C-4CA2-4611-A302-164F5B5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35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B32B6-0DA3-4667-87F4-E4565D0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371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Single-modality systems can miss important cues. CAMEO reduces information loss by reasoning over both caption and image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937DF-1BAD-4134-9F7B-6280E595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C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741D0-8187-4305-810C-70B9DE6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675F"/>
                </a:solidFill>
              </a:defRPr>
            </a:pPr>
            <a:r>
              <a:rPr sz="825" b="1">
                <a:solidFill>
                  <a:srgbClr val="0A675F"/>
                </a:solidFill>
              </a:rPr>
              <a:t>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FA06A-EFF1-4FE4-8B39-AA62A847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76B7D-5DF3-4580-B65B-28F0FC4F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219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16F17-06C6-43D6-B40A-813231F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Caption + image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5A0D6-F649-49C4-A471-BE745BA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625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184F1-CF8B-43A3-9648-9D30F761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1219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1BC5C-1334-4E0F-A008-D4309283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Text clean + tokenize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56F4A-EA88-44EC-BF23-AB7AE69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625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95372-7E19-465E-BD90-3ACEE5C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48250"/>
            <a:ext cx="1219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677B1-E992-46B4-9E83-B3538118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Image resize + normalize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56253-729D-416D-A803-C4BEB87E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625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40B59-8F34-4653-915D-4355D4C8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48250"/>
            <a:ext cx="1219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6A4A2-88AD-4530-B337-1C15546D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19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Encode both modalities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2DD98F-821C-48FC-AB14-3CF355E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421AC-9F5A-4080-8175-98680AC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48250"/>
            <a:ext cx="1219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76B0CA-3228-48B5-88B9-B9FE986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Project to shared 128-d 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94FDD-F2F7-4C5F-8371-716F466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625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FDF5F8-4CCD-42DC-ABFB-3FBB12D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48250"/>
            <a:ext cx="1219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7F57CD-A798-4B58-AE7E-D67954B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Fuse with attention + gating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7D8FEB-A940-4C29-A29E-D0485A61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625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4CF110-A23F-4FFC-A230-4BD9E98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48250"/>
            <a:ext cx="1219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2333C7-B531-40E0-904E-4D6A02C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197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Predict + respond + store</a:t>
            </a:r>
          </a:p>
        </p:txBody>
      </p:sp>
    </p:spTree>
    <p:extLst>
      <p:ext uri="{BB962C8B-B14F-4D97-AF65-F5344CB8AC3E}">
        <p14:creationId xmlns:p14="http://schemas.microsoft.com/office/powerpoint/2010/main" val="2041019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5E530-102F-42DB-8DFF-7006C45A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CBEA0-E0C6-4749-8650-0D68D923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3706C-2F99-46FA-A565-8F8CA51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Neural Architecture from Projection to Final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C2D27-62F0-4214-8AD3-41CB04DB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This slide is the core backbone: aligned modality vectors, fusion, heads, confidence, and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91AAF-3D45-4EB4-B4BB-02B26591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409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E8BA3-E5CD-49EC-9F18-8BB022CC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7A64D-7D7A-4845-B828-F3677C8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Text pooled 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94395-4300-4B57-B95F-81C9AF48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h_t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AD3FF-8ED7-436C-BD5D-B0758C4E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81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5F"/>
          </a:solidFill>
          <a:ln xmlns:a="http://schemas.openxmlformats.org/drawingml/2006/main" w="0">
            <a:solidFill>
              <a:srgbClr val="0A67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22DF3-CF2F-4E24-8462-86059C24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1409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86A1A-042B-420A-96B4-1F71948D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9E3E5-3640-47E2-ADF1-72320937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622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Text 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C6A42-4349-402D-8510-849A3D51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8610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z_t = W_t h_t + b_t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A9A99-0680-4924-839E-96512CE2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81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5F"/>
          </a:solidFill>
          <a:ln xmlns:a="http://schemas.openxmlformats.org/drawingml/2006/main" w="0">
            <a:solidFill>
              <a:srgbClr val="0A67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7F795-BA44-44E7-9C7C-BD35AEC3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409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40CFF-98E7-4AD5-8CF0-120EC8FA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6F7BE-7E08-4C38-ADB4-E486CCE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Image projection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063DA-6D01-4881-BDB1-BF32C325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z_i = W_i h_i + b_i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C55E9-99D4-46C8-AA2F-A4950C3F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81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5F"/>
          </a:solidFill>
          <a:ln xmlns:a="http://schemas.openxmlformats.org/drawingml/2006/main" w="0">
            <a:solidFill>
              <a:srgbClr val="0A67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A18B3-966D-4FA8-9956-91617306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1409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8173C-A1F7-45F9-AD41-557AF479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2E86F-81D6-4DAA-81A5-D0A38DEF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622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Attention + gating fusion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165D8-BD11-435F-BEAD-90ED9C1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8610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f = (alpha_t g_t)z_t + (alpha_i g_i)z_i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DD890-05D5-4861-809D-52A3E462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81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5F"/>
          </a:solidFill>
          <a:ln xmlns:a="http://schemas.openxmlformats.org/drawingml/2006/main" w="0">
            <a:solidFill>
              <a:srgbClr val="0A67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BAC87-000C-4F1D-9884-493790F0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1409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18457-11CD-40AA-84A3-5F0926C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9203B-DB73-4375-B6AD-9EACDE50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622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Prediction heads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CF66A-A354-4E5B-AA99-DD62186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emotion / intent / intensity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92BB8-D487-4835-B680-08D994C0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5F"/>
          </a:solidFill>
          <a:ln xmlns:a="http://schemas.openxmlformats.org/drawingml/2006/main" w="0">
            <a:solidFill>
              <a:srgbClr val="0A67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5A271-FB89-4B23-A402-57D562E3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1409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26F81-51C3-4A3B-BD54-DF596019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FB599E-CBA3-41DF-8F94-3AB33193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Confidence + response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7F9DDE-E381-434A-9166-01F73C49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085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safe supportive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D916E5-BE51-4C6D-95AB-076022C5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512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4B0ADE-6884-44E0-8E09-19C5485E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25411-2136-4CA9-BB5C-0F671F8C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</a:defRPr>
            </a:pPr>
            <a:r>
              <a:rPr sz="1200" b="1">
                <a:solidFill>
                  <a:srgbClr val="0E1726"/>
                </a:solidFill>
              </a:rPr>
              <a:t>Shared Projection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B392C-EF3F-423D-98DA-FC3981D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675F"/>
                </a:solidFill>
              </a:defRPr>
            </a:pPr>
            <a:r>
              <a:rPr sz="1350" b="0">
                <a:solidFill>
                  <a:srgbClr val="0A675F"/>
                </a:solidFill>
              </a:rPr>
              <a:t>z_t = W_t h_t + b_t   |   z_i = W_i h_i + b_i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AF7EF5-A395-4448-BB2C-07950191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470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</a:defRPr>
            </a:pPr>
            <a:r>
              <a:rPr sz="1050" b="0">
                <a:solidFill>
                  <a:srgbClr val="243447"/>
                </a:solidFill>
              </a:rPr>
              <a:t>Both modalities are aligned into the same 128-dimensional latent space before fusion.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1DE52F-A3DD-4712-BCB8-34966606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512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E9BDB8-FA44-4CD1-91B4-35EE9F79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A68B99-47D0-46D9-9E4E-13C07DE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</a:defRPr>
            </a:pPr>
            <a:r>
              <a:rPr sz="1200" b="1">
                <a:solidFill>
                  <a:srgbClr val="0E1726"/>
                </a:solidFill>
              </a:rPr>
              <a:t>Fusion Output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C1F64B-FF50-4B3F-966A-E668A055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675F"/>
                </a:solidFill>
              </a:defRPr>
            </a:pPr>
            <a:r>
              <a:rPr sz="1350" b="0">
                <a:solidFill>
                  <a:srgbClr val="0A675F"/>
                </a:solidFill>
              </a:rPr>
              <a:t>f = (alpha_t * g_t) z_t + (alpha_i * g_i) z_i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82B6B9-E537-46A3-8A0C-75F80BDB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470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1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</a:defRPr>
            </a:pPr>
            <a:r>
              <a:rPr sz="1050" b="0">
                <a:solidFill>
                  <a:srgbClr val="243447"/>
                </a:solidFill>
              </a:rPr>
              <a:t>The model learns both relative importance and information flow control for text and image.</a:t>
            </a:r>
          </a:p>
        </p:txBody>
      </p:sp>
    </p:spTree>
    <p:extLst>
      <p:ext uri="{BB962C8B-B14F-4D97-AF65-F5344CB8AC3E}">
        <p14:creationId xmlns:p14="http://schemas.microsoft.com/office/powerpoint/2010/main" val="1298451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E8BD6-2F31-415D-8ADB-7124943A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FUSION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EE83E-9D88-4456-A77D-667EDE6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69D5C-FA29-4CB8-9286-9C0C53C0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Why Attention and Gating Are Both Needed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1F5BA-C53F-43D4-B12C-6B0F0258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Attention compares modalities. Gating decides how much signal from each modality should pass.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9D64F-2541-47AE-B662-EE8874C0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5146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1BB39-6585-4996-A7BA-47E1023B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08F39-6255-4C4E-BBB6-DDFCD42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Attention Solves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43982-606C-449E-A6D6-C4313DA2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Which modality matters more for this sample?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It produces relative weights alpha_t and alpha_i using softmax, so alpha_t + alpha_i = 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B37BE-C28D-47EE-8D09-6DF69DF4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25146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5BD69-E4A6-4AC4-99B2-B910C45D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3850E-DD10-4652-BB8F-D251278E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146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Gating Solves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FA7DD-8EA7-4BC0-B4E1-0CBFE77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How much signal from each modality should actually pass?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It produces gate values g_t and g_i using sigmoid, so each gate stays between 0 and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F97FB-52C2-467E-8239-0548457D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5146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D3F9F-30AB-4AD3-9122-6F4813E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B8ECA-D0FF-413D-8498-A15ECD50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Why Attention Alone Is Not Enough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7ADD6-AC1F-4FAF-B202-DB6DF08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Softmax only gives a relative distribution. It cannot strongly suppress a noisy modality in an absolute way.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A54F6-1700-4825-ACCA-79C7063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5146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91805-20D1-4BBA-936E-00556D8D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69854-7786-4799-9118-CD2E2DF4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Why Gating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7F6AA-9BE1-4872-B611-BC6632E3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Gating filters weak or noisy signals. It lets the model reduce modality influence even if that modality still exists.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188FD-F1AF-4303-9C66-50B2CBBD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72F26-24CD-4F9B-9544-9BBC2225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675F"/>
                </a:solidFill>
              </a:defRPr>
            </a:pPr>
            <a:r>
              <a:rPr sz="825" b="1">
                <a:solidFill>
                  <a:srgbClr val="0A675F"/>
                </a:solidFill>
              </a:rPr>
              <a:t>KEY FORMULAS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A3413-8763-411A-A514-FF102274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629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583B7-5FBC-414B-8040-9B84923C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675F"/>
                </a:solidFill>
              </a:defRPr>
            </a:pPr>
            <a:r>
              <a:rPr sz="1500" b="0">
                <a:solidFill>
                  <a:srgbClr val="0A675F"/>
                </a:solidFill>
              </a:rPr>
              <a:t>alpha = softmax(W_a [z_t ; z_i] + b_a)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B09C9-765C-4502-98A3-C6FAE5F6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675F"/>
                </a:solidFill>
              </a:defRPr>
            </a:pPr>
            <a:r>
              <a:rPr sz="1500" b="0">
                <a:solidFill>
                  <a:srgbClr val="0A675F"/>
                </a:solidFill>
              </a:rPr>
              <a:t>g = sigma(W_g [z_t ; z_i] + b_g)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C82DA-E184-4015-8B47-E57B3AA4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</a:defRPr>
            </a:pPr>
            <a:r>
              <a:rPr sz="1200" b="1">
                <a:solidFill>
                  <a:srgbClr val="0E1726"/>
                </a:solidFill>
              </a:rPr>
              <a:t>Final multimodal vector: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DDEE2-7061-442F-88C0-2A40CDA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54E45"/>
                </a:solidFill>
              </a:defRPr>
            </a:pPr>
            <a:r>
              <a:rPr sz="1500" b="0">
                <a:solidFill>
                  <a:srgbClr val="B54E45"/>
                </a:solidFill>
              </a:rPr>
              <a:t>f = (alpha_t * g_t) z_t + (alpha_i * g_i) z_i</a:t>
            </a:r>
          </a:p>
        </p:txBody>
      </p:sp>
    </p:spTree>
    <p:extLst>
      <p:ext uri="{BB962C8B-B14F-4D97-AF65-F5344CB8AC3E}">
        <p14:creationId xmlns:p14="http://schemas.microsoft.com/office/powerpoint/2010/main" val="1775194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ADB8-0451-4EDA-A5EF-2E35AD69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PREDICTION +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6626F-E71A-414B-BDAD-902B75C2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C0A15-1587-49C9-93B1-53A3B9EF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Prediction Heads, Confidence, Calibration, and Response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FE70E-71D3-4DD7-A190-C791AC23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From the fused vector to user-facing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240BB-8373-439A-9336-7494867C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593DC-3D1D-4F8F-A97C-D38F3F0D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6C3D7-16D8-4C44-B3B6-AA6680E6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Emotion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60F6F-06B5-4536-B115-D118743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Classification over 6 emotion classes: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happy, sad, angry, neutral, anxious, hopeful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softmax -&gt; probability distribution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F1C75-5702-47C3-B76C-698491DE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D8B3C-309F-4507-8E87-95EB6F51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A6327-CE1B-4A29-88DA-067EF1D8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14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Intent 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C7EB7-003B-46B9-8197-4D7F6751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Classification over 6 intent classes: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distress, celebration, frustration, neutral, seeking_help, gratitude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softmax -&gt; probability 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46FBB-8861-4E58-A60A-0E8D7EF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43150"/>
            <a:ext cx="2438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7E016-E93F-498C-B384-9E2E5F6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431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0A217-DDD0-4A19-8F41-FF4A142F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Intensity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C5ED9-EF47-4328-8DD5-562141ED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Regression on a bounded 0 to 1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sigmoid final layer keeps intensity interpretable and bounded.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8DAF4-1D9F-4878-B411-809CA589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85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D1AF2-6845-40E6-8026-67590E84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D6772-1DCF-46EC-9489-C2F2E3A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Confidence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C1135-E344-45F9-B841-E51ECEF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confidence = max(p_emotion) * max(p_intent)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High confidence only when both classification branches are strong.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3039E-F4BE-4EB5-ACC7-899976D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512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05743-45C3-4D10-A8D1-D60697C7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4A"/>
          </a:solidFill>
          <a:ln xmlns:a="http://schemas.openxmlformats.org/drawingml/2006/main" w="0">
            <a:solidFill>
              <a:srgbClr val="D9B4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EA343-FE55-4AF1-BE7C-623E61D5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</a:defRPr>
            </a:pPr>
            <a:r>
              <a:rPr sz="1200" b="1">
                <a:solidFill>
                  <a:srgbClr val="0E1726"/>
                </a:solidFill>
              </a:rPr>
              <a:t>Calibration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745E9-D893-4A18-8895-C2DB97DD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675F"/>
                </a:solidFill>
              </a:defRPr>
            </a:pPr>
            <a:r>
              <a:rPr sz="1350" b="0">
                <a:solidFill>
                  <a:srgbClr val="0A675F"/>
                </a:solidFill>
              </a:rPr>
              <a:t>if strong text cues -&gt; override raw prediction, confidence &gt;= 0.82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B1A43-D480-4821-9DF9-0D368248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470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</a:defRPr>
            </a:pPr>
            <a:r>
              <a:rPr sz="1050" b="0">
                <a:solidFill>
                  <a:srgbClr val="243447"/>
                </a:solidFill>
              </a:rPr>
              <a:t>Keyword-aware correction improves robustness in obvious high-signal cases like distress or help-seeking language.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F36B2-D500-49AF-9F3D-8C7B8231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512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61456-3E2C-4D20-942F-BF3E7D45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2CA42-4332-4B14-8009-DBDD6A47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</a:defRPr>
            </a:pPr>
            <a:r>
              <a:rPr sz="1200" b="1">
                <a:solidFill>
                  <a:srgbClr val="0E1726"/>
                </a:solidFill>
              </a:rPr>
              <a:t>Response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8070F-0D95-4EED-8B17-AD8348E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675F"/>
                </a:solidFill>
              </a:defRPr>
            </a:pPr>
            <a:r>
              <a:rPr sz="1350" b="0">
                <a:solidFill>
                  <a:srgbClr val="0A675F"/>
                </a:solidFill>
              </a:rPr>
              <a:t>if distress -&gt; rule-based   else -&gt; template / optional FLAN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3F8FC-05C7-4312-BB52-87ED0180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470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5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</a:defRPr>
            </a:pPr>
            <a:r>
              <a:rPr sz="1050" b="0">
                <a:solidFill>
                  <a:srgbClr val="243447"/>
                </a:solidFill>
              </a:rPr>
              <a:t>Hybrid response logic keeps higher-risk outputs controlled while allowing supportive low-risk replies.</a:t>
            </a:r>
          </a:p>
        </p:txBody>
      </p:sp>
    </p:spTree>
    <p:extLst>
      <p:ext uri="{BB962C8B-B14F-4D97-AF65-F5344CB8AC3E}">
        <p14:creationId xmlns:p14="http://schemas.microsoft.com/office/powerpoint/2010/main" val="1693743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27793-B9FE-43E9-8492-D56F888B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193A0-4524-4812-93CB-0C836A3B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6342B-F3BA-4D96-A01F-FC4A9EE5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Training and Testing Data: What We Used and Why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9FB9-E78D-41CD-8859-7D01ECD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A controlled synthetic multimodal dataset was used to validate the pipeline clearly and reproducibly.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79EE-0677-42FF-82C0-202E7D6A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429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AE3AC-F549-41CB-A59E-8DB5C112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666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6F710-17CD-4D32-B360-925B7ADE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Main Training / Holdout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65387-5B0F-4DB5-8E13-02E2A2D3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3105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6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Generated inside the repo with presentation-oriented captions plus stylized face-like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Total rows: 240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Train: 180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Eval: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D32EB-F3AB-4E80-9BB8-83B138C4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3429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2EB08-E151-46A6-A553-F85B894C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666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CF3BA-4025-4450-ABB6-55FB1E0E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Why Stylized Emoji-like Images?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6F9FC-E231-498E-AC9E-ADA46ACC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105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They give controlled visual emotion cues, balanced classes, stable demos, and easy text-image-label pairing.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This is a bootstrap dataset, not a claim of full real-world face recognition.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47B9D-EBC8-4264-8A64-BF7F05CF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3429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1141C-6723-4C76-AB9B-8F11E5C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666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D247D-8AEF-4D18-BBAE-73A7ED25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Extra Evaluation 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2E13D-988F-4FC7-A4FB-4ACAACB3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3105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12 realistic unseen cases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6 response-safety prompts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These test generalization and output behavior beyond the neat holdout split.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D86B2-BA20-45A5-97E0-C0B6A4F7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F0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667D4-35F5-4D72-8BFD-1A648378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38743"/>
                </a:solidFill>
              </a:defRPr>
            </a:pPr>
            <a:r>
              <a:rPr sz="825" b="1">
                <a:solidFill>
                  <a:srgbClr val="E38743"/>
                </a:solidFill>
              </a:rPr>
              <a:t>CLASS PAIRS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8CC59-E0D6-489E-96B0-7E0F30CD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7061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BE9CF-5B0D-41F1-982B-0C1FFA8B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04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B4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21D19-C420-4D52-BE4A-E4A13FAA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</a:defRPr>
            </a:pPr>
            <a:r>
              <a:rPr sz="1125" b="1">
                <a:solidFill>
                  <a:srgbClr val="0E1726"/>
                </a:solidFill>
              </a:rPr>
              <a:t>happy + celebration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2D236-B95C-4851-A399-DFAD1E36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304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6FDB2-3167-421C-B99C-26139CC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</a:defRPr>
            </a:pPr>
            <a:r>
              <a:rPr sz="1125" b="1">
                <a:solidFill>
                  <a:srgbClr val="0E1726"/>
                </a:solidFill>
              </a:rPr>
              <a:t>sad + distress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71A9C-B0EB-4138-ABC9-D90C638D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53000"/>
            <a:ext cx="304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D48C4-8BD6-4719-9280-56BFEEEE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387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</a:defRPr>
            </a:pPr>
            <a:r>
              <a:rPr sz="1125" b="1">
                <a:solidFill>
                  <a:srgbClr val="0E1726"/>
                </a:solidFill>
              </a:rPr>
              <a:t>angry + frustration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CDCAC-3B3C-48E3-9495-43612C39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04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C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EE00E-BF32-47FA-BF7E-22CCB5A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530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</a:defRPr>
            </a:pPr>
            <a:r>
              <a:rPr sz="1125" b="1">
                <a:solidFill>
                  <a:srgbClr val="0E1726"/>
                </a:solidFill>
              </a:rPr>
              <a:t>neutral + neutral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42DC07-1FA4-4CE5-8AA5-4513D13C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67350"/>
            <a:ext cx="304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39A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DBA1BC-1DDB-4CB5-89B8-A8D61431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530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</a:defRPr>
            </a:pPr>
            <a:r>
              <a:rPr sz="1125" b="1">
                <a:solidFill>
                  <a:srgbClr val="0E1726"/>
                </a:solidFill>
              </a:rPr>
              <a:t>anxious + seeking_help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B9D7B-7FA6-429F-A532-5A55221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67350"/>
            <a:ext cx="304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94C3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6EB73-2D0B-43F5-95B0-B16C7E99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530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726"/>
                </a:solidFill>
              </a:defRPr>
            </a:pPr>
            <a:r>
              <a:rPr sz="1125" b="1">
                <a:solidFill>
                  <a:srgbClr val="0E1726"/>
                </a:solidFill>
              </a:rPr>
              <a:t>hopeful + gratitude</a:t>
            </a:r>
          </a:p>
        </p:txBody>
      </p:sp>
    </p:spTree>
    <p:extLst>
      <p:ext uri="{BB962C8B-B14F-4D97-AF65-F5344CB8AC3E}">
        <p14:creationId xmlns:p14="http://schemas.microsoft.com/office/powerpoint/2010/main" val="597148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82BEB-675E-45CA-8D66-83498A54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C0C34-C18E-48CF-9E32-11B77A0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B560F-120E-46A0-A1CE-E9FDBCD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What Was Trained, Which Losses Were Used, and Why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BBADA-A972-4461-BC1F-66D473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A lightweight training strategy was used to keep the project stable and compute-friendly.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FE2BD-4C85-4464-874E-884B4410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505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5F3AF-37CF-474F-8A96-627B7E31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A89E3-6E3F-453E-88BB-8B86475E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Trainable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22A8B-8C94-464B-B2D2-053FB32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7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Projection layers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Attention + gating fusion block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Emotion / intensity head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Intent head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Large pretrained encoders remain mostly frozen by default.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5893B-E029-4C13-A3B3-C8715191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505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5388-994F-452C-B92F-824A0524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5F892-35B4-47FE-A062-8ECA4079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Why Freeze Encoders?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9DA05-4232-4156-8CE5-89E21A03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Full end-to-end fine-tuning is heavier and less stable on a small project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Frozen encoders + trainable downstream layers are practical for a college-scale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4D0D9-2A87-4F67-BB60-30A0C74E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390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8AC46-C991-4F3B-A2A9-99E9969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2FB75-0A09-4E82-B7CB-8204F176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Cached-head Training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F5150-4940-4877-AAA3-1F04B7DE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A faster CPU-oriented path caches frozen encoder outputs once and trains lighter layers on those cached features.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E79E1-F6D4-4FA8-AC9E-C91814B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512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F09E0-C659-4F24-877B-3C5E71DC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81889-DC9D-4031-8B81-10BF9873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</a:defRPr>
            </a:pPr>
            <a:r>
              <a:rPr sz="1200" b="1">
                <a:solidFill>
                  <a:srgbClr val="0E1726"/>
                </a:solidFill>
              </a:rPr>
              <a:t>Loss Functions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4DDDC-726A-4725-8BFC-C226720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675F"/>
                </a:solidFill>
              </a:defRPr>
            </a:pPr>
            <a:r>
              <a:rPr sz="1350" b="0">
                <a:solidFill>
                  <a:srgbClr val="0A675F"/>
                </a:solidFill>
              </a:rPr>
              <a:t>loss = loss_emo + loss_intent + lambda * loss_intensity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5C1AF-A876-4B34-8DE6-A5581896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470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9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</a:defRPr>
            </a:pPr>
            <a:r>
              <a:rPr sz="1050" b="0">
                <a:solidFill>
                  <a:srgbClr val="243447"/>
                </a:solidFill>
              </a:rPr>
              <a:t>Emotion and intent use cross-entropy. Intensity uses MSE because it is a continuous target.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C5741-6B02-49FF-B236-33A9FC3F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512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1BEBB-6F73-4057-B05A-09A52B14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4A"/>
          </a:solidFill>
          <a:ln xmlns:a="http://schemas.openxmlformats.org/drawingml/2006/main" w="0">
            <a:solidFill>
              <a:srgbClr val="D9B4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17C3F-E69B-4814-9287-554635A9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726"/>
                </a:solidFill>
              </a:defRPr>
            </a:pPr>
            <a:r>
              <a:rPr sz="1200" b="1">
                <a:solidFill>
                  <a:srgbClr val="0E1726"/>
                </a:solidFill>
              </a:rPr>
              <a:t>Training Signals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6124E-A03B-49C6-BA37-877C00CC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675F"/>
                </a:solidFill>
              </a:defRPr>
            </a:pPr>
            <a:r>
              <a:rPr sz="1350" b="0">
                <a:solidFill>
                  <a:srgbClr val="0A675F"/>
                </a:solidFill>
              </a:rPr>
              <a:t>softmax -&gt; class probabilities   |   sigmoid -&gt; bounded intensity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3DE1D-F44C-49E8-B4EE-AD2ECA09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24450"/>
            <a:ext cx="470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447"/>
                </a:solidFill>
              </a:defRPr>
            </a:pPr>
            <a:r>
              <a:rPr sz="1050" b="0">
                <a:solidFill>
                  <a:srgbClr val="243447"/>
                </a:solidFill>
              </a:rPr>
              <a:t>AdamW optimization, seeded runs, and regularization via dropout make training more stable and reproducible.</a:t>
            </a:r>
          </a:p>
        </p:txBody>
      </p:sp>
    </p:spTree>
    <p:extLst>
      <p:ext uri="{BB962C8B-B14F-4D97-AF65-F5344CB8AC3E}">
        <p14:creationId xmlns:p14="http://schemas.microsoft.com/office/powerpoint/2010/main" val="752838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0AF6A-C77D-4E2C-BD7E-7A42FCD6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F4177-EEF5-484A-9B95-78F99D8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93D7D-1014-47A6-9B05-AA049FE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How Accuracy Was Calculated and What the Results Show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64404-78CF-4719-A919-2DF9BD17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CAMEO is compared with a majority baseline and a text-only heuristic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3F705-07D9-4147-9C1F-DE516506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6572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19150" y="2628900"/>
          <a:ext xmlns:a="http://schemas.openxmlformats.org/drawingml/2006/main" cx="5905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8427b157d94a4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950D0-D26B-470F-8E37-26519A7F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41148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49E81-5232-4D19-90A5-C4D051A1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29288-3B52-44D0-9F7F-E262A98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Metrics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8251D-F40D-4AED-819F-7FD519DC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3790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Accuracy = correct predictions / total samples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MAE = average |true intensity - predicted intensity|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Macro-F1 gives equal importance to each class.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70830-059D-4B71-B63A-F21D5B14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43350"/>
            <a:ext cx="4114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BA1D2-6ACF-41AF-AAB1-E10F1DD7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433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41A23-6D95-4299-A8DD-9E7C235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Core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2FD23-8241-4FAF-AE6D-F917A60A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1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CAMEO: emotion acc 0.8500, intent acc 0.8500, intensity MAE 0.1550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2761C-A2C1-4A9C-B665-3180BB88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29200"/>
            <a:ext cx="4114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C04CC-CCAA-4DB8-A3BA-A0F4E46C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29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4A"/>
          </a:solidFill>
          <a:ln xmlns:a="http://schemas.openxmlformats.org/drawingml/2006/main" w="0">
            <a:solidFill>
              <a:srgbClr val="D9B4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89D01-8EC4-4567-A323-CC74955A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006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D8106-849A-4AEE-8185-ED8A85B9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790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CAMEO improves over both weaker baselines, so the multimodal architecture adds measurable value.</a:t>
            </a:r>
          </a:p>
        </p:txBody>
      </p:sp>
    </p:spTree>
    <p:extLst>
      <p:ext uri="{BB962C8B-B14F-4D97-AF65-F5344CB8AC3E}">
        <p14:creationId xmlns:p14="http://schemas.microsoft.com/office/powerpoint/2010/main" val="1881159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4A8D5-1A2A-4CB1-BC72-45BF216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VALIDATION +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A7EC2-2186-4892-BB69-781A2BDD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6F1AA-7750-4FF9-B6C6-538CC17E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Realistic Testing, Response Safety, and Product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44E6-9ED3-4129-83C4-454B09E3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The project was evaluated not only on holdout accuracy but also on output behavior and user-facing usability.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5B3D7-F225-4611-B6A4-833B7C7E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3333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01AF8-E842-4A8E-BA82-C5D8D0BD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8"/>
          </a:solidFill>
          <a:ln xmlns:a="http://schemas.openxmlformats.org/drawingml/2006/main" w="0">
            <a:solidFill>
              <a:srgbClr val="7AA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E3CE1-6A6F-495F-872E-C2E971B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Realistic Unseen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F4220-C33A-476F-9FC3-EE56264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3009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12 hand-written unseen cases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emotion accuracy = 0.6667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intent accuracy = 0.6667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joint accuracy = 0.6667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B7CAC-9557-441D-92EC-2367E6D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3333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3B200-D996-4A5F-8ABE-E979E462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E93C8-2A7C-490F-B214-487B67B9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Safety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9A472-C292-4BAA-81C9-FFE4804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009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6 curated prompts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pass rate = 1.0000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required supportive phrases present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forbidden unsafe phrases absent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70282-C912-408E-87E8-610D486E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62200"/>
            <a:ext cx="3714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96C95-5672-406A-B967-2C106482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622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663D6-6C2C-47F8-8029-5BFC3D73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337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Main Failure Pattern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3CC43-2D58-4932-A1A5-A6A9DE64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390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Strong negative wording can over-pull the model toward distress, especially when the better label is seeking_help or frustration.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51F55-CFF9-4ED7-90B4-B9856FF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37162-CA31-4B4F-AAC8-F86D2CA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E5C85-F16E-4559-BE63-403958FA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Product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ACC7F-A6CB-454D-8E3C-5C22FD2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3009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FastAPI backend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login / register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saved prediction history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trend analysis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health + readiness endpoints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1DBA5-7837-465F-B839-A2A5CF0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862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FC442-88FE-4EA0-8E1F-B18FE6E8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86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4A"/>
          </a:solidFill>
          <a:ln xmlns:a="http://schemas.openxmlformats.org/drawingml/2006/main" w="0">
            <a:solidFill>
              <a:srgbClr val="D9B4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5980A-36EF-4DCD-A2BA-ACF691ED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Trend Analysis Included?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9D072-A9DE-403D-98DE-A2DC7A50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3009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Yes. Stored predictions are aggregated into total checks, top emotion, top intent, average intensity, average confidence, and recent emotion/intent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75C40-096F-453C-8BA8-E33B27A7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862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8C436-2837-414F-96A6-AFA4775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862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2515F-F34E-4251-98BD-6A9A308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37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Why This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C1B13-419D-434C-B196-2CF1526D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3390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CAMEO behaves like a usable system, not just a single-run model. Predictions, responses, storage, and analytics are all connected.</a:t>
            </a:r>
          </a:p>
        </p:txBody>
      </p:sp>
    </p:spTree>
    <p:extLst>
      <p:ext uri="{BB962C8B-B14F-4D97-AF65-F5344CB8AC3E}">
        <p14:creationId xmlns:p14="http://schemas.microsoft.com/office/powerpoint/2010/main" val="13717263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6EAB60-9267-44E5-8E93-9B78E78E5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6FC69-DD80-4B0D-BC19-94F3AE2D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675F"/>
                </a:solidFill>
              </a:defRPr>
            </a:pPr>
            <a:r>
              <a:rPr sz="900" b="1">
                <a:solidFill>
                  <a:srgbClr val="0A675F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DC71B-C8EE-4A2A-9E91-565423D6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70E8-0434-4FB1-90AA-F35FE7B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726"/>
                </a:solidFill>
              </a:defRPr>
            </a:pPr>
            <a:r>
              <a:rPr sz="2250" b="1">
                <a:solidFill>
                  <a:srgbClr val="0E1726"/>
                </a:solidFill>
              </a:rPr>
              <a:t>Strengths, Limitations, Future Work, and My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86D14-DF3C-4F40-AE03-7A12990E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287"/>
                </a:solidFill>
              </a:defRPr>
            </a:pPr>
            <a:r>
              <a:rPr sz="1275" b="0">
                <a:solidFill>
                  <a:srgbClr val="617287"/>
                </a:solidFill>
              </a:rPr>
              <a:t>A balanced final slide for viva: what is strong, what is limited, and what I contributed.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5BAD5-A4B3-492E-BE47-289535DF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1281F-350B-429C-820F-5367903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83"/>
          </a:solidFill>
          <a:ln xmlns:a="http://schemas.openxmlformats.org/drawingml/2006/main" w="0">
            <a:solidFill>
              <a:srgbClr val="0D8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26368-4C47-4E46-83C3-C3BEF50E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Strengths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6C1FF-059F-42AB-9343-A46763C9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3105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Multimodal reasoning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shared latent alignment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attention + gating fusion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multi-task prediction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confidence + calibration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safety-aware response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16BB2-0B90-48ED-8D34-D26C3F55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7AB44-9D02-4D48-965E-154EE987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554"/>
          </a:solidFill>
          <a:ln xmlns:a="http://schemas.openxmlformats.org/drawingml/2006/main" w="0">
            <a:solidFill>
              <a:srgbClr val="DB65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F4636-30E1-4427-97A3-945D3B7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Limitations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2F35B-C7E9-48A9-BFBE-E23F3278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3105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Synthetic dataset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simplified visual modality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realistic unseen cases are harder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calibration can overreact to negative wording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not enterprise-scale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E918F-015C-4628-B3E5-C04D71F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3524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E74EF-D227-4FDC-90CC-BA6833AB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743"/>
          </a:solidFill>
          <a:ln xmlns:a="http://schemas.openxmlformats.org/drawingml/2006/main" w="0">
            <a:solidFill>
              <a:srgbClr val="E387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21D39-B32F-4C29-A325-D853172F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181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AF5B6-B002-4307-8B48-16139340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200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More realistic data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stronger multimodal fine-tuning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broader safety red-teaming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richer deployment and monitoring</a:t>
            </a:r>
          </a:p>
          <a:p xmlns:a="http://schemas.openxmlformats.org/drawingml/2006/main">
            <a:pPr algn="l">
              <a:defRPr sz="1125" b="0">
                <a:solidFill>
                  <a:srgbClr val="243447"/>
                </a:solidFill>
              </a:defRPr>
            </a:pPr>
            <a:r>
              <a:rPr sz="1125" b="0">
                <a:solidFill>
                  <a:srgbClr val="243447"/>
                </a:solidFill>
              </a:rPr>
              <a:t>better uncertainty estimation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04F27-1A9E-4003-95B8-A70DD3D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801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86428-2FCF-4D11-882D-4D8C34E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726"/>
                </a:solidFill>
              </a:defRPr>
            </a:pPr>
            <a:r>
              <a:rPr sz="1350" b="1">
                <a:solidFill>
                  <a:srgbClr val="0E1726"/>
                </a:solidFill>
              </a:rPr>
              <a:t>Member 3 Contribution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E5E85-0D97-47AD-9A82-12B65C26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I handled the central multimodal reasoning pipeline: shared latent alignment, attention + gating fusion, prediction heads, confidence logic, calibration, response safety, and the main evaluation story.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0510B-BBBE-481E-8C55-3E7669F0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7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675F"/>
                </a:solidFill>
              </a:defRPr>
            </a:pPr>
            <a:r>
              <a:rPr sz="1200" b="1">
                <a:solidFill>
                  <a:srgbClr val="0A675F"/>
                </a:solidFill>
              </a:rPr>
              <a:t>Best closing line: CAMEO is not just a classifier. It is a full multimodal system that converts caption and image into predictions, confidence, safe response, and product-level user history.</a:t>
            </a:r>
          </a:p>
        </p:txBody>
      </p:sp>
    </p:spTree>
    <p:extLst>
      <p:ext uri="{BB962C8B-B14F-4D97-AF65-F5344CB8AC3E}">
        <p14:creationId xmlns:p14="http://schemas.microsoft.com/office/powerpoint/2010/main" val="1917162150"/>
      </p:ext>
    </p:extLst>
  </p:cSld>
</p:sld>
</file>

<file path=ppt/theme/theme1.xml><?xml version="1.0" encoding="utf-8"?>
<a:theme xmlns:a="http://schemas.openxmlformats.org/drawingml/2006/main" name="CameoTheme">
  <a:themeElements>
    <a:clrScheme name="CameoTheme">
      <a:accent1>
        <a:srgbClr val="0D8F83"/>
      </a:accent1>
      <a:accent2>
        <a:srgbClr val="E38743"/>
      </a:accent2>
      <a:accent3>
        <a:srgbClr val="7AA7D8"/>
      </a:accent3>
      <a:accent4>
        <a:srgbClr val="D9B44A"/>
      </a:accent4>
      <a:accent5>
        <a:srgbClr val="DB6554"/>
      </a:accent5>
      <a:accent6>
        <a:srgbClr val="B39AD9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meo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2026-04-26T19:36:23.7870000Z</dcterms:created>
  <dcterms:modified xsi:type="dcterms:W3CDTF">2026-04-26T19:36:23.7870000Z</dcterms:modified>
</coreProperties>
</file>